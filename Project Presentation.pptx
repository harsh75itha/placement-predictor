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BC9C"/>
    <a:srgbClr val="9B59B6"/>
    <a:srgbClr val="FFD700"/>
    <a:srgbClr val="FF6B35"/>
    <a:srgbClr val="2ECC71"/>
    <a:srgbClr val="1E90FF"/>
    <a:srgbClr val="00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FF6B3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69-4202-A9A1-3AF3842779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Employable</c:v>
                </c:pt>
                <c:pt idx="1">
                  <c:v>Non Employable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42.6</c:v>
                </c:pt>
                <c:pt idx="1">
                  <c:v>57.4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9-4202-A9A1-3AF384277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03392431"/>
        <c:axId val="200339099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2"/>
                      <c:pt idx="0">
                        <c:v>Employable</c:v>
                      </c:pt>
                      <c:pt idx="1">
                        <c:v>Non Employable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B69-4202-A9A1-3AF3842779B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Sheet1!$H$3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2"/>
                      <c:pt idx="0">
                        <c:v>Employable</c:v>
                      </c:pt>
                      <c:pt idx="1">
                        <c:v>Non Employable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Sheet1!$D$2:$D$5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B69-4202-A9A1-3AF3842779B3}"/>
                  </c:ext>
                </c:extLst>
              </c15:ser>
            </c15:filteredBarSeries>
          </c:ext>
        </c:extLst>
      </c:barChart>
      <c:catAx>
        <c:axId val="20033924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390991"/>
        <c:crosses val="autoZero"/>
        <c:auto val="1"/>
        <c:lblAlgn val="ctr"/>
        <c:lblOffset val="100"/>
        <c:noMultiLvlLbl val="0"/>
      </c:catAx>
      <c:valAx>
        <c:axId val="2003390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3392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1E90FF"/>
            </a:solidFill>
          </c:spPr>
          <c:dPt>
            <c:idx val="0"/>
            <c:bubble3D val="0"/>
            <c:spPr>
              <a:solidFill>
                <a:srgbClr val="1E9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AC-4350-84B6-C360375C3489}"/>
              </c:ext>
            </c:extLst>
          </c:dPt>
          <c:dPt>
            <c:idx val="1"/>
            <c:bubble3D val="0"/>
            <c:spPr>
              <a:solidFill>
                <a:srgbClr val="FF6B3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D09-4660-805F-53527E381564}"/>
              </c:ext>
            </c:extLst>
          </c:dPt>
          <c:dPt>
            <c:idx val="2"/>
            <c:bubble3D val="0"/>
            <c:spPr>
              <a:solidFill>
                <a:srgbClr val="2ECC7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DD09-4660-805F-53527E381564}"/>
              </c:ext>
            </c:extLst>
          </c:dPt>
          <c:dPt>
            <c:idx val="3"/>
            <c:bubble3D val="0"/>
            <c:spPr>
              <a:solidFill>
                <a:srgbClr val="FFD7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D09-4660-805F-53527E38156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Skill Gap</c:v>
                </c:pt>
                <c:pt idx="1">
                  <c:v>Wrong Career  Choice</c:v>
                </c:pt>
                <c:pt idx="2">
                  <c:v>No Guidance</c:v>
                </c:pt>
                <c:pt idx="3">
                  <c:v>Lack Of Awareness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09-4660-805F-53527E381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55B3-2C76-AA4C-8C6C-70BEFD249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880" y="1901048"/>
            <a:ext cx="9440034" cy="1173989"/>
          </a:xfrm>
        </p:spPr>
        <p:txBody>
          <a:bodyPr>
            <a:normAutofit fontScale="90000"/>
          </a:bodyPr>
          <a:lstStyle/>
          <a:p>
            <a:r>
              <a:rPr lang="en-US" sz="3400" dirty="0">
                <a:solidFill>
                  <a:schemeClr val="accent2"/>
                </a:solidFill>
              </a:rPr>
              <a:t>STUDENT CAREER PLACEMENT PREDICTOR</a:t>
            </a:r>
            <a:br>
              <a:rPr lang="en-US" sz="3200" dirty="0">
                <a:solidFill>
                  <a:schemeClr val="accent2"/>
                </a:solidFill>
              </a:rPr>
            </a:br>
            <a:endParaRPr lang="en-IN" sz="3200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0899F-5766-84F8-D97A-A4F1E0EAA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3609664"/>
            <a:ext cx="9440034" cy="2584659"/>
          </a:xfrm>
        </p:spPr>
        <p:txBody>
          <a:bodyPr>
            <a:noAutofit/>
          </a:bodyPr>
          <a:lstStyle/>
          <a:p>
            <a:pPr algn="just"/>
            <a:r>
              <a:rPr lang="en-US" sz="2200" dirty="0"/>
              <a:t>Name: Harshitha T N, Dhanya R and Ananya P C.</a:t>
            </a:r>
          </a:p>
          <a:p>
            <a:pPr algn="just"/>
            <a:r>
              <a:rPr lang="en-US" sz="2200" dirty="0"/>
              <a:t>College: Harsha Institute Of Management Studies</a:t>
            </a:r>
          </a:p>
          <a:p>
            <a:pPr algn="just"/>
            <a:r>
              <a:rPr lang="en-US" sz="2200" dirty="0"/>
              <a:t>Department: Department of Computer Science</a:t>
            </a:r>
          </a:p>
          <a:p>
            <a:pPr algn="just"/>
            <a:r>
              <a:rPr lang="en-US" sz="2200" dirty="0"/>
              <a:t>Degree: BCA VI semester</a:t>
            </a:r>
          </a:p>
          <a:p>
            <a:pPr algn="just"/>
            <a:r>
              <a:rPr lang="en-US" sz="2200" dirty="0"/>
              <a:t>Batch: 2023-26</a:t>
            </a:r>
          </a:p>
          <a:p>
            <a:pPr algn="l"/>
            <a:endParaRPr lang="en-I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EF61BC-0F5B-CCB0-9E98-B9E622AE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4" y="255561"/>
            <a:ext cx="3506684" cy="1132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272B7E-235F-0073-5926-B268987E5D2F}"/>
              </a:ext>
            </a:extLst>
          </p:cNvPr>
          <p:cNvCxnSpPr/>
          <p:nvPr/>
        </p:nvCxnSpPr>
        <p:spPr>
          <a:xfrm>
            <a:off x="1183880" y="3055372"/>
            <a:ext cx="10982633" cy="0"/>
          </a:xfrm>
          <a:prstGeom prst="line">
            <a:avLst/>
          </a:prstGeom>
          <a:ln>
            <a:solidFill>
              <a:schemeClr val="tx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46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C27C-86C1-DB42-B79E-B818E7AE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2D2C3-D081-A32D-1922-5F187431D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Nearly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40%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of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Indian Graduates 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aged 22-25 are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unemployed 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(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Azim Premji University, 2026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Only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42.6%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of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Indian Graduates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were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employable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in 2024 due to skill gaps (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Mercer-Mettl, 2025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Only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8.25% of graduates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work in roles matching their qualifications (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Economic Survey 2024-25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Students lack personalized career guidance.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Traditional placement processes are manual, slow and inefficient.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5D9E536-D989-21B2-0718-EEFA0C83C0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2045074"/>
              </p:ext>
            </p:extLst>
          </p:nvPr>
        </p:nvGraphicFramePr>
        <p:xfrm>
          <a:off x="6218495" y="3644242"/>
          <a:ext cx="5499798" cy="3213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F22DB2-931B-7424-97E0-135C2EBEF5E0}"/>
              </a:ext>
            </a:extLst>
          </p:cNvPr>
          <p:cNvCxnSpPr/>
          <p:nvPr/>
        </p:nvCxnSpPr>
        <p:spPr>
          <a:xfrm>
            <a:off x="0" y="1497204"/>
            <a:ext cx="10319657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55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C96-28B0-25FE-E86C-2815737E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2250"/>
            <a:ext cx="10353762" cy="97045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CD8F-D506-C356-9FC0-8125F3EB3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77374"/>
            <a:ext cx="10353762" cy="545837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Predict the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best-fit career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for a student based on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academics and skills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Provide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AI-generated personalized career roadmap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Helps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recruiters filter the right candidates 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effectively.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Reduces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skill-employment mismatch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 among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</a:rPr>
              <a:t>fresh graduates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Make career guidance accessible to every student digitally.</a:t>
            </a:r>
          </a:p>
          <a:p>
            <a:pPr marL="36900" indent="0" algn="ctr">
              <a:buNone/>
            </a:pP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“Key reasons behind the problem”</a:t>
            </a:r>
            <a:endParaRPr lang="en-IN" sz="1800" i="1" dirty="0">
              <a:solidFill>
                <a:schemeClr val="tx1">
                  <a:lumMod val="95000"/>
                </a:schemeClr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18A265F-96EC-CD43-ECAC-67A1B9510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2619"/>
              </p:ext>
            </p:extLst>
          </p:nvPr>
        </p:nvGraphicFramePr>
        <p:xfrm>
          <a:off x="3055526" y="3429000"/>
          <a:ext cx="6324449" cy="3673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1F156-462E-9507-37D8-C1B42FD5954E}"/>
              </a:ext>
            </a:extLst>
          </p:cNvPr>
          <p:cNvCxnSpPr/>
          <p:nvPr/>
        </p:nvCxnSpPr>
        <p:spPr>
          <a:xfrm>
            <a:off x="0" y="974690"/>
            <a:ext cx="9736853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24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A578-EF3A-829F-D3FF-3DFAEC2E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1EBF7-A2BC-1AB4-7CEE-C0FB10B88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8"/>
            <a:ext cx="5060497" cy="3291835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Frontend: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HTML, CSS, JavaScript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Light/Dark mode toggle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Keyboard shortcuts for accessibility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Backend: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Flask framework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REST API architecture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B99E2-552E-01F1-0EDE-C7631E92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732450"/>
            <a:ext cx="5064665" cy="364088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Database: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MySQL – stores student, recruiter and admin 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Machine Learning: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Random Forest Classifier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Trained on academic and skill-based features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 Integration: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Gemini AI – generates personalized career roadmaps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Additional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PDF report generation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</a:rPr>
              <a:t>Three–role system – Student, Recruiter, Admin</a:t>
            </a:r>
          </a:p>
          <a:p>
            <a:pPr marL="36900" indent="0">
              <a:buNone/>
            </a:pP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16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532CD8-B061-F333-F1B1-455F056A064E}"/>
              </a:ext>
            </a:extLst>
          </p:cNvPr>
          <p:cNvCxnSpPr/>
          <p:nvPr/>
        </p:nvCxnSpPr>
        <p:spPr>
          <a:xfrm>
            <a:off x="0" y="1484671"/>
            <a:ext cx="11513574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05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17FC-D515-63A0-40BA-63FD2E61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63793"/>
            <a:ext cx="10353762" cy="970450"/>
          </a:xfrm>
        </p:spPr>
        <p:txBody>
          <a:bodyPr/>
          <a:lstStyle/>
          <a:p>
            <a:pPr algn="l"/>
            <a:r>
              <a:rPr lang="en-US" dirty="0"/>
              <a:t>How It Works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631328-771D-58DB-818D-68F4AB33D10A}"/>
              </a:ext>
            </a:extLst>
          </p:cNvPr>
          <p:cNvCxnSpPr/>
          <p:nvPr/>
        </p:nvCxnSpPr>
        <p:spPr>
          <a:xfrm>
            <a:off x="0" y="1248697"/>
            <a:ext cx="9586452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DD6C33-BC86-A55A-58D7-088C1CBA6B02}"/>
              </a:ext>
            </a:extLst>
          </p:cNvPr>
          <p:cNvSpPr/>
          <p:nvPr/>
        </p:nvSpPr>
        <p:spPr>
          <a:xfrm>
            <a:off x="560439" y="2064774"/>
            <a:ext cx="2841522" cy="1111042"/>
          </a:xfrm>
          <a:prstGeom prst="roundRect">
            <a:avLst/>
          </a:prstGeom>
          <a:solidFill>
            <a:srgbClr val="1E9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Student Login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F3688F-934E-A90E-F075-AD3F205283B8}"/>
              </a:ext>
            </a:extLst>
          </p:cNvPr>
          <p:cNvSpPr/>
          <p:nvPr/>
        </p:nvSpPr>
        <p:spPr>
          <a:xfrm>
            <a:off x="4173794" y="2064774"/>
            <a:ext cx="2841522" cy="1111042"/>
          </a:xfrm>
          <a:prstGeom prst="roundRect">
            <a:avLst/>
          </a:prstGeom>
          <a:solidFill>
            <a:srgbClr val="2ECC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Enter Academic &amp; Skill Details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4321D7-0060-93D8-A575-68517E7EBE23}"/>
              </a:ext>
            </a:extLst>
          </p:cNvPr>
          <p:cNvSpPr/>
          <p:nvPr/>
        </p:nvSpPr>
        <p:spPr>
          <a:xfrm>
            <a:off x="7801897" y="2064774"/>
            <a:ext cx="2841522" cy="1111042"/>
          </a:xfrm>
          <a:prstGeom prst="roundRect">
            <a:avLst/>
          </a:prstGeom>
          <a:solidFill>
            <a:srgbClr val="FF6B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Random Forest ML Model</a:t>
            </a:r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98F6CE-51A3-FF1A-C1A4-54B4143B08C9}"/>
              </a:ext>
            </a:extLst>
          </p:cNvPr>
          <p:cNvSpPr/>
          <p:nvPr/>
        </p:nvSpPr>
        <p:spPr>
          <a:xfrm>
            <a:off x="545691" y="4045972"/>
            <a:ext cx="2841522" cy="1111042"/>
          </a:xfrm>
          <a:prstGeom prst="roundRect">
            <a:avLst/>
          </a:prstGeom>
          <a:solidFill>
            <a:srgbClr val="FFD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Career Prediction</a:t>
            </a:r>
            <a:endParaRPr lang="en-IN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891BCE-F014-8281-650A-F1ACDD12145A}"/>
              </a:ext>
            </a:extLst>
          </p:cNvPr>
          <p:cNvSpPr/>
          <p:nvPr/>
        </p:nvSpPr>
        <p:spPr>
          <a:xfrm>
            <a:off x="4173794" y="4045972"/>
            <a:ext cx="2841522" cy="1111042"/>
          </a:xfrm>
          <a:prstGeom prst="roundRect">
            <a:avLst/>
          </a:prstGeom>
          <a:solidFill>
            <a:srgbClr val="9B59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Gemini AI Roadmap</a:t>
            </a:r>
            <a:endParaRPr lang="en-IN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5CE0BA-1110-9B44-B44A-F8318A0300FD}"/>
              </a:ext>
            </a:extLst>
          </p:cNvPr>
          <p:cNvSpPr/>
          <p:nvPr/>
        </p:nvSpPr>
        <p:spPr>
          <a:xfrm>
            <a:off x="7801897" y="4044003"/>
            <a:ext cx="2841522" cy="1111042"/>
          </a:xfrm>
          <a:prstGeom prst="roundRect">
            <a:avLst/>
          </a:prstGeom>
          <a:solidFill>
            <a:srgbClr val="1ABC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PDF Report Download</a:t>
            </a:r>
            <a:endParaRPr lang="en-IN" b="1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396DD1-7E40-6B6D-D156-8A682404947D}"/>
              </a:ext>
            </a:extLst>
          </p:cNvPr>
          <p:cNvCxnSpPr>
            <a:endCxn id="9" idx="1"/>
          </p:cNvCxnSpPr>
          <p:nvPr/>
        </p:nvCxnSpPr>
        <p:spPr>
          <a:xfrm>
            <a:off x="3274142" y="2620295"/>
            <a:ext cx="899652" cy="0"/>
          </a:xfrm>
          <a:prstGeom prst="straightConnector1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99F934-384E-DA7A-E2F8-F3CE4B5C7A59}"/>
              </a:ext>
            </a:extLst>
          </p:cNvPr>
          <p:cNvCxnSpPr/>
          <p:nvPr/>
        </p:nvCxnSpPr>
        <p:spPr>
          <a:xfrm>
            <a:off x="6902245" y="2620293"/>
            <a:ext cx="899652" cy="0"/>
          </a:xfrm>
          <a:prstGeom prst="straightConnector1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95D9508-417C-CD7D-E61A-BB1FA11A3D88}"/>
              </a:ext>
            </a:extLst>
          </p:cNvPr>
          <p:cNvCxnSpPr/>
          <p:nvPr/>
        </p:nvCxnSpPr>
        <p:spPr>
          <a:xfrm>
            <a:off x="3274142" y="4599524"/>
            <a:ext cx="899652" cy="0"/>
          </a:xfrm>
          <a:prstGeom prst="straightConnector1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629709-1476-3898-C2DD-84FE1E3E9D0F}"/>
              </a:ext>
            </a:extLst>
          </p:cNvPr>
          <p:cNvCxnSpPr/>
          <p:nvPr/>
        </p:nvCxnSpPr>
        <p:spPr>
          <a:xfrm>
            <a:off x="6902245" y="4570025"/>
            <a:ext cx="899652" cy="0"/>
          </a:xfrm>
          <a:prstGeom prst="straightConnector1">
            <a:avLst/>
          </a:prstGeom>
          <a:ln w="9525" cap="flat" cmpd="sng" algn="ctr">
            <a:solidFill>
              <a:schemeClr val="tx1">
                <a:lumMod val="9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9B6EC20-FE66-A3FE-11EF-89B580E77D6D}"/>
              </a:ext>
            </a:extLst>
          </p:cNvPr>
          <p:cNvCxnSpPr>
            <a:stCxn id="10" idx="3"/>
          </p:cNvCxnSpPr>
          <p:nvPr/>
        </p:nvCxnSpPr>
        <p:spPr>
          <a:xfrm flipV="1">
            <a:off x="10643419" y="2620293"/>
            <a:ext cx="152400" cy="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B54D14-21C7-A795-D759-831A0928187B}"/>
              </a:ext>
            </a:extLst>
          </p:cNvPr>
          <p:cNvCxnSpPr>
            <a:endCxn id="11" idx="1"/>
          </p:cNvCxnSpPr>
          <p:nvPr/>
        </p:nvCxnSpPr>
        <p:spPr>
          <a:xfrm>
            <a:off x="294968" y="4599524"/>
            <a:ext cx="250723" cy="196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53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AED6C-ACDC-D453-3049-E0D4EAB9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" b="1"/>
          <a:stretch>
            <a:fillRect/>
          </a:stretch>
        </p:blipFill>
        <p:spPr>
          <a:xfrm>
            <a:off x="192526" y="550518"/>
            <a:ext cx="5799477" cy="27834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DE957A-BA74-2C91-8E42-87D4DB1A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3" b="1"/>
          <a:stretch>
            <a:fillRect/>
          </a:stretch>
        </p:blipFill>
        <p:spPr>
          <a:xfrm>
            <a:off x="6191622" y="550517"/>
            <a:ext cx="5796945" cy="2783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FD902-2AED-C725-6C80-BF3FFAFFC7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6"/>
          <a:stretch>
            <a:fillRect/>
          </a:stretch>
        </p:blipFill>
        <p:spPr>
          <a:xfrm>
            <a:off x="196714" y="3514856"/>
            <a:ext cx="5799477" cy="27926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BD3843-F9CC-D36A-C4C5-2542B81F99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" r="711"/>
          <a:stretch>
            <a:fillRect/>
          </a:stretch>
        </p:blipFill>
        <p:spPr>
          <a:xfrm>
            <a:off x="6195810" y="3514855"/>
            <a:ext cx="5796945" cy="279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9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6C9B-CA28-50A8-5C94-0ABD2AB9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C9E85-C61D-1717-A134-463558DD2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Students can get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personalized career predictions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based on academics and skills.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Provides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AI-generated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step-by-step career roadmap for each student.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Recruiters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can filter and shortlist the right candidates effectively.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Colleges can use it as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a placement readiness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tool before final year.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Career counselors can use it as a data-backed guidance tool.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Helps identify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skill gaps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at institutional level.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Government and NGOs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can use aggregate data to design targeted training programs.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Makes career guidance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digitally accessible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to students in rural and urban areas.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6BDED-A207-9F79-886D-5658FB3C0714}"/>
              </a:ext>
            </a:extLst>
          </p:cNvPr>
          <p:cNvCxnSpPr/>
          <p:nvPr/>
        </p:nvCxnSpPr>
        <p:spPr>
          <a:xfrm>
            <a:off x="0" y="1547610"/>
            <a:ext cx="11267557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23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9990DE-DF7D-009A-1CC2-CA48A9E1E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373"/>
            <a:ext cx="5998866" cy="580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EC2894-7A44-D315-1B10-A6E9E4154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6373"/>
            <a:ext cx="6096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9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DF1A4-AAFA-73BD-A1EF-FA358AC02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352" y="1082914"/>
            <a:ext cx="3871295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2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45F1-6246-37FD-C503-550C1DCE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0427-1035-1603-61C8-40FF3CC3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Model accuracy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depends on quality and size of training data.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Does not consider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soft skills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, attitude or interview performance.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Gemini AI roadmaps may not reflect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local job market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conditions.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No real-time integration with job portals like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LinkedIn or Naukri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Predictions may be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biased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if training data lacks diversity.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Currently supports only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predefined career categories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System requires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stable internet connection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for AI roadmap generation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Limited to academic and skill-based inputs only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6D16E9-0145-E5E2-2A07-EF7F25F675BE}"/>
              </a:ext>
            </a:extLst>
          </p:cNvPr>
          <p:cNvCxnSpPr/>
          <p:nvPr/>
        </p:nvCxnSpPr>
        <p:spPr>
          <a:xfrm>
            <a:off x="0" y="1432566"/>
            <a:ext cx="1064833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603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E9F7-A85C-F67F-852B-A1E0210B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BF58-30E6-26B7-E54C-B81E026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4323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Successfully built an 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ML-based web application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to predict student career paths.</a:t>
            </a:r>
          </a:p>
          <a:p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Random Forest Classifier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provides accurate career prediction based on academics and skills.</a:t>
            </a:r>
          </a:p>
          <a:p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Gemini AI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generates personalized roadmaps bridging the skill-employment gap</a:t>
            </a:r>
          </a:p>
          <a:p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Three-role system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ensures smooth interaction between students, recruiters and admin.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Addresses the growing problem of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graduate unemployment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in India.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Makes career guidance accessible, digital and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personalized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for every student.</a:t>
            </a:r>
          </a:p>
          <a:p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Future scope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– real time job portal integration and expanded career categories.</a:t>
            </a:r>
          </a:p>
          <a:p>
            <a:pPr marL="36900" indent="0">
              <a:buNone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  <a:p>
            <a:pPr marL="36900" indent="0" algn="ctr">
              <a:buNone/>
            </a:pPr>
            <a:r>
              <a:rPr lang="en-IN" i="1" dirty="0">
                <a:solidFill>
                  <a:schemeClr val="tx1">
                    <a:lumMod val="95000"/>
                  </a:schemeClr>
                </a:solidFill>
              </a:rPr>
              <a:t>“This project is a step towards making every student’s career journey smarter and more guided.”</a:t>
            </a:r>
          </a:p>
          <a:p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93384F-0CC5-15F4-59B5-FCF98DC2732D}"/>
              </a:ext>
            </a:extLst>
          </p:cNvPr>
          <p:cNvCxnSpPr/>
          <p:nvPr/>
        </p:nvCxnSpPr>
        <p:spPr>
          <a:xfrm>
            <a:off x="0" y="1445342"/>
            <a:ext cx="11267557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195</TotalTime>
  <Words>525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Calisto MT</vt:lpstr>
      <vt:lpstr>Courier New</vt:lpstr>
      <vt:lpstr>Wingdings</vt:lpstr>
      <vt:lpstr>Wingdings 2</vt:lpstr>
      <vt:lpstr>Slate</vt:lpstr>
      <vt:lpstr>STUDENT CAREER PLACEMENT PREDICTOR </vt:lpstr>
      <vt:lpstr>Problem Statement</vt:lpstr>
      <vt:lpstr>Objectives</vt:lpstr>
      <vt:lpstr>Technologies Used</vt:lpstr>
      <vt:lpstr>How It Works</vt:lpstr>
      <vt:lpstr>PowerPoint Presentation</vt:lpstr>
      <vt:lpstr>Applications</vt:lpstr>
      <vt:lpstr>PowerPoint Presentation</vt:lpstr>
      <vt:lpstr>PowerPoint Presentation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T N</dc:creator>
  <cp:lastModifiedBy>Harshitha T N</cp:lastModifiedBy>
  <cp:revision>3</cp:revision>
  <dcterms:created xsi:type="dcterms:W3CDTF">2026-06-04T17:15:10Z</dcterms:created>
  <dcterms:modified xsi:type="dcterms:W3CDTF">2026-06-04T20:40:11Z</dcterms:modified>
</cp:coreProperties>
</file>